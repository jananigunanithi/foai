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1A7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28016" cy="3611880"/>
          </a:xfrm>
          <a:prstGeom prst="rect">
            <a:avLst/>
          </a:prstGeom>
          <a:solidFill>
            <a:srgbClr val="57E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658368"/>
            <a:ext cx="704088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400" b="1">
                <a:solidFill>
                  <a:srgbClr val="FFFFFF"/>
                </a:solidFill>
                <a:latin typeface="Aptos"/>
              </a:rPr>
              <a:t>FINSIGHT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98448"/>
            <a:ext cx="7223760" cy="10058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>
                <a:solidFill>
                  <a:srgbClr val="57E6C3"/>
                </a:solidFill>
                <a:latin typeface="Aptos"/>
              </a:rPr>
              <a:t>PERSONAL FINANCE BEHAVIOUR ANALYSIS</a:t>
            </a:r>
          </a:p>
          <a:p>
            <a:pPr algn="l">
              <a:spcAft>
                <a:spcPts val="500"/>
              </a:spcAft>
            </a:pPr>
            <a:r>
              <a:rPr sz="1900" b="1">
                <a:solidFill>
                  <a:srgbClr val="57E6C3"/>
                </a:solidFill>
                <a:latin typeface="Aptos"/>
              </a:rPr>
              <a:t>AND SPENDING PREDICTION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2542032"/>
            <a:ext cx="69494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FOUNDATIONS OF ARTIFICIAL INTELLIGENCE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3182112"/>
            <a:ext cx="5943600" cy="1097280"/>
          </a:xfrm>
          <a:prstGeom prst="roundRect">
            <a:avLst>
              <a:gd name="adj" fmla="val 12000"/>
            </a:avLst>
          </a:prstGeom>
          <a:solidFill>
            <a:srgbClr val="221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291840"/>
            <a:ext cx="557784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DCD5F5"/>
                </a:solidFill>
                <a:latin typeface="Aptos"/>
              </a:rPr>
              <a:t>JANANI G  •  240701208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DCD5F5"/>
                </a:solidFill>
                <a:latin typeface="Aptos"/>
              </a:rPr>
              <a:t>HIMESH NIRANJHAN A  •  240701192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DCD5F5"/>
                </a:solidFill>
                <a:latin typeface="Aptos"/>
              </a:rPr>
              <a:t>III Year B.E. Computer Science and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4526280"/>
            <a:ext cx="713232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FFFFFF"/>
                </a:solidFill>
                <a:latin typeface="Aptos"/>
              </a:rPr>
              <a:t>Rajalakshmi Engineering College  |  October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960120"/>
            <a:ext cx="1325880" cy="822960"/>
          </a:xfrm>
          <a:prstGeom prst="roundRect">
            <a:avLst>
              <a:gd name="adj" fmla="val 12000"/>
            </a:avLst>
          </a:prstGeom>
          <a:solidFill>
            <a:srgbClr val="4C2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88352" y="1069848"/>
            <a:ext cx="11887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57E6C3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88352" y="1408176"/>
            <a:ext cx="11887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TRACK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2075688"/>
            <a:ext cx="1325880" cy="822960"/>
          </a:xfrm>
          <a:prstGeom prst="roundRect">
            <a:avLst>
              <a:gd name="adj" fmla="val 12000"/>
            </a:avLst>
          </a:prstGeom>
          <a:solidFill>
            <a:srgbClr val="4C2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88352" y="2185416"/>
            <a:ext cx="11887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57E6C3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88352" y="2523744"/>
            <a:ext cx="11887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PREDICT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3191256"/>
            <a:ext cx="1325880" cy="822960"/>
          </a:xfrm>
          <a:prstGeom prst="roundRect">
            <a:avLst>
              <a:gd name="adj" fmla="val 12000"/>
            </a:avLst>
          </a:prstGeom>
          <a:solidFill>
            <a:srgbClr val="4C2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88352" y="3300984"/>
            <a:ext cx="11887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57E6C3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88352" y="3639312"/>
            <a:ext cx="11887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1A7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47472"/>
            <a:ext cx="109728" cy="530352"/>
          </a:xfrm>
          <a:prstGeom prst="rect">
            <a:avLst/>
          </a:prstGeom>
          <a:solidFill>
            <a:srgbClr val="57E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7955279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FFFFFF"/>
                </a:solidFill>
                <a:latin typeface="Aptos"/>
              </a:rP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80467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DCD5F5"/>
                </a:solidFill>
                <a:latin typeface="Aptos"/>
              </a:rPr>
              <a:t>Turning transaction history into explainable monthly financial guidance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4736592"/>
            <a:ext cx="32004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DCD5F5"/>
                </a:solidFill>
                <a:latin typeface="Aptos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4937760" cy="2606040"/>
          </a:xfrm>
          <a:prstGeom prst="roundRect">
            <a:avLst>
              <a:gd name="adj" fmla="val 12000"/>
            </a:avLst>
          </a:prstGeom>
          <a:solidFill>
            <a:srgbClr val="4C2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9224" y="1490472"/>
            <a:ext cx="54864" cy="2276856"/>
          </a:xfrm>
          <a:prstGeom prst="rect">
            <a:avLst/>
          </a:prstGeom>
          <a:solidFill>
            <a:srgbClr val="57E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444752"/>
            <a:ext cx="4498848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801368"/>
            <a:ext cx="4498848" cy="20391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DCD5F5"/>
                </a:solidFill>
                <a:latin typeface="Aptos"/>
              </a:rPr>
              <a:t>• Transactions are difficult to interpret as patterns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DCD5F5"/>
                </a:solidFill>
                <a:latin typeface="Aptos"/>
              </a:rPr>
              <a:t>• Irregular spending makes simple averages unreliable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DCD5F5"/>
                </a:solidFill>
                <a:latin typeface="Aptos"/>
              </a:rPr>
              <a:t>• Unusual payments need context, not just an alert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DCD5F5"/>
                </a:solidFill>
                <a:latin typeface="Aptos"/>
              </a:rPr>
              <a:t>• Budgets must respect essentials and savings goals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1325880"/>
            <a:ext cx="2971800" cy="1170432"/>
          </a:xfrm>
          <a:prstGeom prst="roundRect">
            <a:avLst>
              <a:gd name="adj" fmla="val 12000"/>
            </a:avLst>
          </a:prstGeom>
          <a:solidFill>
            <a:srgbClr val="4C2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9864" y="1490472"/>
            <a:ext cx="54864" cy="841248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16168" y="1444752"/>
            <a:ext cx="2532888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ANALYSE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16168" y="1801368"/>
            <a:ext cx="2532888" cy="60350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DCD5F5"/>
                </a:solidFill>
                <a:latin typeface="Aptos"/>
              </a:rPr>
              <a:t>Spending behaviour and category patterns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23560" y="2633472"/>
            <a:ext cx="2971800" cy="1170432"/>
          </a:xfrm>
          <a:prstGeom prst="roundRect">
            <a:avLst>
              <a:gd name="adj" fmla="val 12000"/>
            </a:avLst>
          </a:prstGeom>
          <a:solidFill>
            <a:srgbClr val="4C2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69864" y="2798064"/>
            <a:ext cx="54864" cy="841248"/>
          </a:xfrm>
          <a:prstGeom prst="rect">
            <a:avLst/>
          </a:prstGeom>
          <a:solidFill>
            <a:srgbClr val="57E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16168" y="2752344"/>
            <a:ext cx="2532888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PREDICT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16168" y="3108960"/>
            <a:ext cx="2532888" cy="60350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DCD5F5"/>
                </a:solidFill>
                <a:latin typeface="Aptos"/>
              </a:rPr>
              <a:t>Next-month spending by category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23560" y="3941063"/>
            <a:ext cx="2971800" cy="640080"/>
          </a:xfrm>
          <a:prstGeom prst="roundRect">
            <a:avLst>
              <a:gd name="adj" fmla="val 12000"/>
            </a:avLst>
          </a:prstGeom>
          <a:solidFill>
            <a:srgbClr val="4C2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69864" y="4105655"/>
            <a:ext cx="54864" cy="310896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16168" y="4059935"/>
            <a:ext cx="2532888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RECOMMEND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16168" y="4416552"/>
            <a:ext cx="2532888" cy="7315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DCD5F5"/>
                </a:solidFill>
                <a:latin typeface="Aptos"/>
              </a:rPr>
              <a:t>Feasible budget + reasons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224528"/>
            <a:ext cx="4663440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FFCC66"/>
                </a:solidFill>
                <a:latin typeface="Aptos"/>
              </a:rPr>
              <a:t>Status: proposed design; implementation and evaluation are planned, not completed.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1A7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47472"/>
            <a:ext cx="109728" cy="530352"/>
          </a:xfrm>
          <a:prstGeom prst="rect">
            <a:avLst/>
          </a:prstGeom>
          <a:solidFill>
            <a:srgbClr val="57E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7955279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FFFFFF"/>
                </a:solidFill>
                <a:latin typeface="Aptos"/>
              </a:rPr>
              <a:t>Literature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80467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DCD5F5"/>
                </a:solidFill>
                <a:latin typeface="Aptos"/>
              </a:rPr>
              <a:t>AI methods reviewed and how they inform FinSight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4736592"/>
            <a:ext cx="32004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DCD5F5"/>
                </a:solidFill>
                <a:latin typeface="Aptos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3977639" cy="987552"/>
          </a:xfrm>
          <a:prstGeom prst="roundRect">
            <a:avLst>
              <a:gd name="adj" fmla="val 12000"/>
            </a:avLst>
          </a:prstGeom>
          <a:solidFill>
            <a:srgbClr val="4C2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9224" y="1399032"/>
            <a:ext cx="54864" cy="658368"/>
          </a:xfrm>
          <a:prstGeom prst="rect">
            <a:avLst/>
          </a:prstGeom>
          <a:solidFill>
            <a:srgbClr val="57E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353312"/>
            <a:ext cx="3538727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Intelligent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709928"/>
            <a:ext cx="3538727" cy="42062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DCD5F5"/>
                </a:solidFill>
                <a:latin typeface="Aptos"/>
              </a:rPr>
              <a:t>Russell &amp; Norvig (2021)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DCD5F5"/>
                </a:solidFill>
                <a:latin typeface="Aptos"/>
              </a:rPr>
              <a:t>PEAS framework defines agent goals, environment, inputs and actions.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234440"/>
            <a:ext cx="3977639" cy="987552"/>
          </a:xfrm>
          <a:prstGeom prst="roundRect">
            <a:avLst>
              <a:gd name="adj" fmla="val 12000"/>
            </a:avLst>
          </a:prstGeom>
          <a:solidFill>
            <a:srgbClr val="4C2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01184" y="1399032"/>
            <a:ext cx="54864" cy="658368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47488" y="1353312"/>
            <a:ext cx="3538727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Behaviour clustering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7488" y="1709928"/>
            <a:ext cx="3538727" cy="42062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DCD5F5"/>
                </a:solidFill>
                <a:latin typeface="Aptos"/>
              </a:rPr>
              <a:t>MacQueen (1967); Rousseeuw (1987)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DCD5F5"/>
                </a:solidFill>
                <a:latin typeface="Aptos"/>
              </a:rPr>
              <a:t>K-means profiles users; silhouette score helps assess cluster separation.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404872"/>
            <a:ext cx="3977639" cy="987552"/>
          </a:xfrm>
          <a:prstGeom prst="roundRect">
            <a:avLst>
              <a:gd name="adj" fmla="val 12000"/>
            </a:avLst>
          </a:prstGeom>
          <a:solidFill>
            <a:srgbClr val="4C2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9224" y="2569464"/>
            <a:ext cx="54864" cy="658368"/>
          </a:xfrm>
          <a:prstGeom prst="rect">
            <a:avLst/>
          </a:prstGeom>
          <a:solidFill>
            <a:srgbClr val="57E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2523744"/>
            <a:ext cx="3538727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Forecasting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2880360"/>
            <a:ext cx="3538727" cy="42062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DCD5F5"/>
                </a:solidFill>
                <a:latin typeface="Aptos"/>
              </a:rPr>
              <a:t>Hyndman &amp; Athanasopoulos (2021)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DCD5F5"/>
                </a:solidFill>
                <a:latin typeface="Aptos"/>
              </a:rPr>
              <a:t>Compare forecasts against naive baselines with time-based validation.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2404872"/>
            <a:ext cx="3977639" cy="987552"/>
          </a:xfrm>
          <a:prstGeom prst="roundRect">
            <a:avLst>
              <a:gd name="adj" fmla="val 12000"/>
            </a:avLst>
          </a:prstGeom>
          <a:solidFill>
            <a:srgbClr val="4C2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01184" y="2569464"/>
            <a:ext cx="54864" cy="658368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47488" y="2523744"/>
            <a:ext cx="3538727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Anomaly detection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47488" y="2880360"/>
            <a:ext cx="3538727" cy="42062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DCD5F5"/>
                </a:solidFill>
                <a:latin typeface="Aptos"/>
              </a:rPr>
              <a:t>Liu, Ting &amp; Zhou (2008)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DCD5F5"/>
                </a:solidFill>
                <a:latin typeface="Aptos"/>
              </a:rPr>
              <a:t>Isolation Forest flags unusual transactions without fraud labels.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575304"/>
            <a:ext cx="3977639" cy="987552"/>
          </a:xfrm>
          <a:prstGeom prst="roundRect">
            <a:avLst>
              <a:gd name="adj" fmla="val 12000"/>
            </a:avLst>
          </a:prstGeom>
          <a:solidFill>
            <a:srgbClr val="4C2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9224" y="3739896"/>
            <a:ext cx="54864" cy="658368"/>
          </a:xfrm>
          <a:prstGeom prst="rect">
            <a:avLst/>
          </a:prstGeom>
          <a:solidFill>
            <a:srgbClr val="57E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3694176"/>
            <a:ext cx="3538727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Search and constraints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" y="4050791"/>
            <a:ext cx="3538727" cy="42062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DCD5F5"/>
                </a:solidFill>
                <a:latin typeface="Aptos"/>
              </a:rPr>
              <a:t>Hart, Nilsson &amp; Raphael (1968)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DCD5F5"/>
                </a:solidFill>
                <a:latin typeface="Aptos"/>
              </a:rPr>
              <a:t>A* searches for low-disruption budget changes; CSP enforces feasibility.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0" y="3575304"/>
            <a:ext cx="3977639" cy="987552"/>
          </a:xfrm>
          <a:prstGeom prst="roundRect">
            <a:avLst>
              <a:gd name="adj" fmla="val 12000"/>
            </a:avLst>
          </a:prstGeom>
          <a:solidFill>
            <a:srgbClr val="4C2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01184" y="3739896"/>
            <a:ext cx="54864" cy="658368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47488" y="3694176"/>
            <a:ext cx="3538727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Adaptive learning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7488" y="4050791"/>
            <a:ext cx="3538727" cy="42062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DCD5F5"/>
                </a:solidFill>
                <a:latin typeface="Aptos"/>
              </a:rPr>
              <a:t>Watkins &amp; Dayan (1992)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DCD5F5"/>
                </a:solidFill>
                <a:latin typeface="Aptos"/>
              </a:rPr>
              <a:t>Q-learning adapts recommendations using user responses.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1A7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47472"/>
            <a:ext cx="109728" cy="530352"/>
          </a:xfrm>
          <a:prstGeom prst="rect">
            <a:avLst/>
          </a:prstGeom>
          <a:solidFill>
            <a:srgbClr val="57E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7955279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FFFFFF"/>
                </a:solidFill>
                <a:latin typeface="Aptos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80467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DCD5F5"/>
                </a:solidFill>
                <a:latin typeface="Aptos"/>
              </a:rPr>
              <a:t>Five layers share one user profile and explainable planning 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4736592"/>
            <a:ext cx="32004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DCD5F5"/>
                </a:solidFill>
                <a:latin typeface="Aptos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234440"/>
            <a:ext cx="7269480" cy="502920"/>
          </a:xfrm>
          <a:prstGeom prst="roundRect">
            <a:avLst>
              <a:gd name="adj" fmla="val 12000"/>
            </a:avLst>
          </a:prstGeom>
          <a:solidFill>
            <a:srgbClr val="4C2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307592"/>
            <a:ext cx="150876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57E6C3"/>
                </a:solidFill>
                <a:latin typeface="Aptos"/>
              </a:rPr>
              <a:t>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307592"/>
            <a:ext cx="530352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FFFFFF"/>
                </a:solidFill>
                <a:latin typeface="Aptos"/>
              </a:rPr>
              <a:t>Dashboard • alerts • budget • reports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1700784"/>
            <a:ext cx="457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57E6C3"/>
                </a:solidFill>
                <a:latin typeface="Aptos"/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892808"/>
            <a:ext cx="7269480" cy="502920"/>
          </a:xfrm>
          <a:prstGeom prst="roundRect">
            <a:avLst>
              <a:gd name="adj" fmla="val 12000"/>
            </a:avLst>
          </a:prstGeom>
          <a:solidFill>
            <a:srgbClr val="221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1965960"/>
            <a:ext cx="150876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57E6C3"/>
                </a:solidFill>
                <a:latin typeface="Aptos"/>
              </a:rPr>
              <a:t>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1965960"/>
            <a:ext cx="530352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FFFFFF"/>
                </a:solidFill>
                <a:latin typeface="Aptos"/>
              </a:rPr>
              <a:t>API gateway • planning-cycle controller • explanation generator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2359152"/>
            <a:ext cx="457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57E6C3"/>
                </a:solidFill>
                <a:latin typeface="Aptos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551176"/>
            <a:ext cx="7269480" cy="502920"/>
          </a:xfrm>
          <a:prstGeom prst="roundRect">
            <a:avLst>
              <a:gd name="adj" fmla="val 12000"/>
            </a:avLst>
          </a:prstGeom>
          <a:solidFill>
            <a:srgbClr val="4C2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2624328"/>
            <a:ext cx="150876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57E6C3"/>
                </a:solidFill>
                <a:latin typeface="Aptos"/>
              </a:rPr>
              <a:t>REASONING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624328"/>
            <a:ext cx="530352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FFFFFF"/>
                </a:solidFill>
                <a:latin typeface="Aptos"/>
              </a:rPr>
              <a:t>CSP solver • A* / local search • rules • Q-learning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3017520"/>
            <a:ext cx="457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57E6C3"/>
                </a:solidFill>
                <a:latin typeface="Aptos"/>
              </a:rP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209544"/>
            <a:ext cx="7269480" cy="502920"/>
          </a:xfrm>
          <a:prstGeom prst="roundRect">
            <a:avLst>
              <a:gd name="adj" fmla="val 12000"/>
            </a:avLst>
          </a:prstGeom>
          <a:solidFill>
            <a:srgbClr val="221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3282696"/>
            <a:ext cx="150876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57E6C3"/>
                </a:solidFill>
                <a:latin typeface="Aptos"/>
              </a:rPr>
              <a:t>LEARNING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3282696"/>
            <a:ext cx="530352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FFFFFF"/>
                </a:solidFill>
                <a:latin typeface="Aptos"/>
              </a:rPr>
              <a:t>Categoriser • clustering • anomaly detector • forecaster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3675888"/>
            <a:ext cx="457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57E6C3"/>
                </a:solidFill>
                <a:latin typeface="Aptos"/>
              </a:rP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3867912"/>
            <a:ext cx="7269480" cy="502920"/>
          </a:xfrm>
          <a:prstGeom prst="roundRect">
            <a:avLst>
              <a:gd name="adj" fmla="val 12000"/>
            </a:avLst>
          </a:prstGeom>
          <a:solidFill>
            <a:srgbClr val="4C2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3941064"/>
            <a:ext cx="150876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57E6C3"/>
                </a:solidFill>
                <a:latin typeface="Aptos"/>
              </a:rPr>
              <a:t>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3941064"/>
            <a:ext cx="530352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FFFFFF"/>
                </a:solidFill>
                <a:latin typeface="Aptos"/>
              </a:rPr>
              <a:t>Transactions • profile • budget history • rules • model registry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599432"/>
            <a:ext cx="71323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0">
                <a:solidFill>
                  <a:srgbClr val="DCD5F5"/>
                </a:solidFill>
                <a:latin typeface="Aptos"/>
              </a:rPr>
              <a:t>Flow: inputs → learning outputs → rules and constraints → budget + explanations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1A7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47472"/>
            <a:ext cx="109728" cy="530352"/>
          </a:xfrm>
          <a:prstGeom prst="rect">
            <a:avLst/>
          </a:prstGeom>
          <a:solidFill>
            <a:srgbClr val="57E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7955279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FFFFFF"/>
                </a:solidFill>
                <a:latin typeface="Aptos"/>
              </a:rPr>
              <a:t>Planning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80467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DCD5F5"/>
                </a:solidFill>
                <a:latin typeface="Aptos"/>
              </a:rPr>
              <a:t>From uploaded transactions to a reasoned monthly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4736592"/>
            <a:ext cx="32004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DCD5F5"/>
                </a:solidFill>
                <a:latin typeface="Aptos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1901952" cy="1207008"/>
          </a:xfrm>
          <a:prstGeom prst="roundRect">
            <a:avLst>
              <a:gd name="adj" fmla="val 12000"/>
            </a:avLst>
          </a:prstGeom>
          <a:solidFill>
            <a:srgbClr val="4C2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417320"/>
            <a:ext cx="3657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57E6C3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444752"/>
            <a:ext cx="123444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Validate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627632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DCD5F5"/>
                </a:solidFill>
                <a:latin typeface="Aptos"/>
              </a:rPr>
              <a:t>Dates, amounts, duplicates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1325880"/>
            <a:ext cx="1901952" cy="1207008"/>
          </a:xfrm>
          <a:prstGeom prst="roundRect">
            <a:avLst>
              <a:gd name="adj" fmla="val 12000"/>
            </a:avLst>
          </a:prstGeom>
          <a:solidFill>
            <a:srgbClr val="4C2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61488" y="1417320"/>
            <a:ext cx="3657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57E6C3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1444752"/>
            <a:ext cx="123444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Categorise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828800"/>
            <a:ext cx="1627632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DCD5F5"/>
                </a:solidFill>
                <a:latin typeface="Aptos"/>
              </a:rPr>
              <a:t>Rules + text classifier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0600" y="1325880"/>
            <a:ext cx="1901952" cy="1207008"/>
          </a:xfrm>
          <a:prstGeom prst="roundRect">
            <a:avLst>
              <a:gd name="adj" fmla="val 12000"/>
            </a:avLst>
          </a:prstGeom>
          <a:solidFill>
            <a:srgbClr val="4C2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10328" y="1417320"/>
            <a:ext cx="3657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57E6C3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1444752"/>
            <a:ext cx="123444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Summarise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1828800"/>
            <a:ext cx="1627632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DCD5F5"/>
                </a:solidFill>
                <a:latin typeface="Aptos"/>
              </a:rPr>
              <a:t>Monthly category totals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0" y="1325880"/>
            <a:ext cx="1901952" cy="1207008"/>
          </a:xfrm>
          <a:prstGeom prst="roundRect">
            <a:avLst>
              <a:gd name="adj" fmla="val 12000"/>
            </a:avLst>
          </a:prstGeom>
          <a:solidFill>
            <a:srgbClr val="4C2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59168" y="1417320"/>
            <a:ext cx="3657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57E6C3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1444752"/>
            <a:ext cx="123444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Profile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1828800"/>
            <a:ext cx="1627632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DCD5F5"/>
                </a:solidFill>
                <a:latin typeface="Aptos"/>
              </a:rPr>
              <a:t>K-means behaviour clusters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898648"/>
            <a:ext cx="1901952" cy="1207008"/>
          </a:xfrm>
          <a:prstGeom prst="roundRect">
            <a:avLst>
              <a:gd name="adj" fmla="val 12000"/>
            </a:avLst>
          </a:prstGeom>
          <a:solidFill>
            <a:srgbClr val="4C2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2990088"/>
            <a:ext cx="3657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57E6C3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017520"/>
            <a:ext cx="123444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Detect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401568"/>
            <a:ext cx="1627632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DCD5F5"/>
                </a:solidFill>
                <a:latin typeface="Aptos"/>
              </a:rPr>
              <a:t>Isolation Forest + reasons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51760" y="2898648"/>
            <a:ext cx="1901952" cy="1207008"/>
          </a:xfrm>
          <a:prstGeom prst="roundRect">
            <a:avLst>
              <a:gd name="adj" fmla="val 12000"/>
            </a:avLst>
          </a:prstGeom>
          <a:solidFill>
            <a:srgbClr val="4C2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61488" y="2990088"/>
            <a:ext cx="3657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57E6C3"/>
                </a:solidFill>
                <a:latin typeface="Apto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4680" y="3017520"/>
            <a:ext cx="123444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Forecast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88920" y="3401568"/>
            <a:ext cx="1627632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DCD5F5"/>
                </a:solidFill>
                <a:latin typeface="Aptos"/>
              </a:rPr>
              <a:t>Next month by category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00600" y="2898648"/>
            <a:ext cx="1901952" cy="1207008"/>
          </a:xfrm>
          <a:prstGeom prst="roundRect">
            <a:avLst>
              <a:gd name="adj" fmla="val 12000"/>
            </a:avLst>
          </a:prstGeom>
          <a:solidFill>
            <a:srgbClr val="4C2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10328" y="2990088"/>
            <a:ext cx="3657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57E6C3"/>
                </a:solidFill>
                <a:latin typeface="Aptos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0" y="3017520"/>
            <a:ext cx="123444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Optimise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0" y="3401568"/>
            <a:ext cx="1627632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DCD5F5"/>
                </a:solidFill>
                <a:latin typeface="Aptos"/>
              </a:rPr>
              <a:t>CSP feasibility + A* search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49440" y="2898648"/>
            <a:ext cx="1901952" cy="1207008"/>
          </a:xfrm>
          <a:prstGeom prst="roundRect">
            <a:avLst>
              <a:gd name="adj" fmla="val 12000"/>
            </a:avLst>
          </a:prstGeom>
          <a:solidFill>
            <a:srgbClr val="4C2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59168" y="2990088"/>
            <a:ext cx="3657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57E6C3"/>
                </a:solidFill>
                <a:latin typeface="Aptos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60" y="3017520"/>
            <a:ext cx="123444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Explain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3401568"/>
            <a:ext cx="1627632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DCD5F5"/>
                </a:solidFill>
                <a:latin typeface="Aptos"/>
              </a:rPr>
              <a:t>Show rules, evidence and changes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4590288"/>
            <a:ext cx="78638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FFCC66"/>
                </a:solidFill>
                <a:latin typeface="Aptos"/>
              </a:rPr>
              <a:t>User corrections feed back into merchant rules and improve later categorisation.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1A7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47472"/>
            <a:ext cx="109728" cy="530352"/>
          </a:xfrm>
          <a:prstGeom prst="rect">
            <a:avLst/>
          </a:prstGeom>
          <a:solidFill>
            <a:srgbClr val="57E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7955279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FFFFFF"/>
                </a:solidFill>
                <a:latin typeface="Aptos"/>
              </a:rPr>
              <a:t>Core AI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80467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DCD5F5"/>
                </a:solidFill>
                <a:latin typeface="Aptos"/>
              </a:rPr>
              <a:t>Nine modules combine learning, search, logic and a user-facing web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4736592"/>
            <a:ext cx="32004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DCD5F5"/>
                </a:solidFill>
                <a:latin typeface="Aptos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2578608" cy="914400"/>
          </a:xfrm>
          <a:prstGeom prst="roundRect">
            <a:avLst>
              <a:gd name="adj" fmla="val 12000"/>
            </a:avLst>
          </a:prstGeom>
          <a:solidFill>
            <a:srgbClr val="4C2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9224" y="1399032"/>
            <a:ext cx="54864" cy="585216"/>
          </a:xfrm>
          <a:prstGeom prst="rect">
            <a:avLst/>
          </a:prstGeom>
          <a:solidFill>
            <a:srgbClr val="57E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353312"/>
            <a:ext cx="2139696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01 • Transactions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709928"/>
            <a:ext cx="2139696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DCD5F5"/>
                </a:solidFill>
                <a:latin typeface="Aptos"/>
              </a:rPr>
              <a:t>Validate imports; merchant rules + classifier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234440"/>
            <a:ext cx="2578608" cy="914400"/>
          </a:xfrm>
          <a:prstGeom prst="roundRect">
            <a:avLst>
              <a:gd name="adj" fmla="val 12000"/>
            </a:avLst>
          </a:prstGeom>
          <a:solidFill>
            <a:srgbClr val="4C2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83864" y="1399032"/>
            <a:ext cx="54864" cy="585216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353312"/>
            <a:ext cx="2139696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02 •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1709928"/>
            <a:ext cx="2139696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DCD5F5"/>
                </a:solidFill>
                <a:latin typeface="Aptos"/>
              </a:rPr>
              <a:t>Features and k-means profiles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234440"/>
            <a:ext cx="2578608" cy="914400"/>
          </a:xfrm>
          <a:prstGeom prst="roundRect">
            <a:avLst>
              <a:gd name="adj" fmla="val 12000"/>
            </a:avLst>
          </a:prstGeom>
          <a:solidFill>
            <a:srgbClr val="4C2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18504" y="1399032"/>
            <a:ext cx="54864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8" y="1353312"/>
            <a:ext cx="2139696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03 • Anomalies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8" y="1709928"/>
            <a:ext cx="2139696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DCD5F5"/>
                </a:solidFill>
                <a:latin typeface="Aptos"/>
              </a:rPr>
              <a:t>Isolation Forest scores with readable reasons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331720"/>
            <a:ext cx="2578608" cy="914400"/>
          </a:xfrm>
          <a:prstGeom prst="roundRect">
            <a:avLst>
              <a:gd name="adj" fmla="val 12000"/>
            </a:avLst>
          </a:prstGeom>
          <a:solidFill>
            <a:srgbClr val="4C2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9224" y="2496312"/>
            <a:ext cx="54864" cy="585216"/>
          </a:xfrm>
          <a:prstGeom prst="rect">
            <a:avLst/>
          </a:prstGeom>
          <a:solidFill>
            <a:srgbClr val="57E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2450591"/>
            <a:ext cx="2139696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04 • Prediction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2807208"/>
            <a:ext cx="2139696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DCD5F5"/>
                </a:solidFill>
                <a:latin typeface="Aptos"/>
              </a:rPr>
              <a:t>Naive baselines, ridge regression, random forest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37560" y="2331720"/>
            <a:ext cx="2578608" cy="914400"/>
          </a:xfrm>
          <a:prstGeom prst="roundRect">
            <a:avLst>
              <a:gd name="adj" fmla="val 12000"/>
            </a:avLst>
          </a:prstGeom>
          <a:solidFill>
            <a:srgbClr val="4C2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83864" y="2496312"/>
            <a:ext cx="54864" cy="585216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30168" y="2450591"/>
            <a:ext cx="2139696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05 • Budget 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30168" y="2807208"/>
            <a:ext cx="2139696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DCD5F5"/>
                </a:solidFill>
                <a:latin typeface="Aptos"/>
              </a:rPr>
              <a:t>A* and local search minimise disruption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2331720"/>
            <a:ext cx="2578608" cy="914400"/>
          </a:xfrm>
          <a:prstGeom prst="roundRect">
            <a:avLst>
              <a:gd name="adj" fmla="val 12000"/>
            </a:avLst>
          </a:prstGeom>
          <a:solidFill>
            <a:srgbClr val="4C2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18504" y="2496312"/>
            <a:ext cx="54864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64808" y="2450591"/>
            <a:ext cx="2139696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06 • Constraints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4808" y="2807208"/>
            <a:ext cx="2139696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DCD5F5"/>
                </a:solidFill>
                <a:latin typeface="Aptos"/>
              </a:rPr>
              <a:t>CSP checks income, essentials and savings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3429000"/>
            <a:ext cx="2578608" cy="914400"/>
          </a:xfrm>
          <a:prstGeom prst="roundRect">
            <a:avLst>
              <a:gd name="adj" fmla="val 12000"/>
            </a:avLst>
          </a:prstGeom>
          <a:solidFill>
            <a:srgbClr val="4C2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9224" y="3593592"/>
            <a:ext cx="54864" cy="585216"/>
          </a:xfrm>
          <a:prstGeom prst="rect">
            <a:avLst/>
          </a:prstGeom>
          <a:solidFill>
            <a:srgbClr val="57E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8" y="3547872"/>
            <a:ext cx="2139696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07 • Knowledge Base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8" y="3904487"/>
            <a:ext cx="2139696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DCD5F5"/>
                </a:solidFill>
                <a:latin typeface="Aptos"/>
              </a:rPr>
              <a:t>Logical rules and forward chaining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37560" y="3429000"/>
            <a:ext cx="2578608" cy="914400"/>
          </a:xfrm>
          <a:prstGeom prst="roundRect">
            <a:avLst>
              <a:gd name="adj" fmla="val 12000"/>
            </a:avLst>
          </a:prstGeom>
          <a:solidFill>
            <a:srgbClr val="4C2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483864" y="3593592"/>
            <a:ext cx="54864" cy="585216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30168" y="3547872"/>
            <a:ext cx="2139696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08 • Adaptation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30168" y="3904487"/>
            <a:ext cx="2139696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DCD5F5"/>
                </a:solidFill>
                <a:latin typeface="Aptos"/>
              </a:rPr>
              <a:t>Q-learning from acceptance and outcomes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72200" y="3429000"/>
            <a:ext cx="2578608" cy="914400"/>
          </a:xfrm>
          <a:prstGeom prst="roundRect">
            <a:avLst>
              <a:gd name="adj" fmla="val 12000"/>
            </a:avLst>
          </a:prstGeom>
          <a:solidFill>
            <a:srgbClr val="4C2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18504" y="3593592"/>
            <a:ext cx="54864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64808" y="3547872"/>
            <a:ext cx="2139696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09 • Web App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64808" y="3904487"/>
            <a:ext cx="2139696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DCD5F5"/>
                </a:solidFill>
                <a:latin typeface="Aptos"/>
              </a:rPr>
              <a:t>Dashboard, alerts, budget and explanations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1A7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47472"/>
            <a:ext cx="109728" cy="530352"/>
          </a:xfrm>
          <a:prstGeom prst="rect">
            <a:avLst/>
          </a:prstGeom>
          <a:solidFill>
            <a:srgbClr val="57E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7955279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FFFFFF"/>
                </a:solidFill>
                <a:latin typeface="Aptos"/>
              </a:rPr>
              <a:t>Algorithms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80467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DCD5F5"/>
                </a:solidFill>
                <a:latin typeface="Aptos"/>
              </a:rPr>
              <a:t>How the main AI techniques contribute to reliable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4736592"/>
            <a:ext cx="32004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DCD5F5"/>
                </a:solidFill>
                <a:latin typeface="Aptos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3886200" cy="1325880"/>
          </a:xfrm>
          <a:prstGeom prst="roundRect">
            <a:avLst>
              <a:gd name="adj" fmla="val 12000"/>
            </a:avLst>
          </a:prstGeom>
          <a:solidFill>
            <a:srgbClr val="4C2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9224" y="1490472"/>
            <a:ext cx="54864" cy="996695"/>
          </a:xfrm>
          <a:prstGeom prst="rect">
            <a:avLst/>
          </a:prstGeom>
          <a:solidFill>
            <a:srgbClr val="57E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444752"/>
            <a:ext cx="3447288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K-MEANS CLUSTERING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801368"/>
            <a:ext cx="3447288" cy="7589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DCD5F5"/>
                </a:solidFill>
                <a:latin typeface="Aptos"/>
              </a:rPr>
              <a:t>Groups users by savings rate, spending mix and regularity.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DCD5F5"/>
                </a:solidFill>
                <a:latin typeface="Aptos"/>
              </a:rPr>
              <a:t>Silhouette score helps judge cluster quality.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325880"/>
            <a:ext cx="3977639" cy="1325880"/>
          </a:xfrm>
          <a:prstGeom prst="roundRect">
            <a:avLst>
              <a:gd name="adj" fmla="val 12000"/>
            </a:avLst>
          </a:prstGeom>
          <a:solidFill>
            <a:srgbClr val="4C2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64024" y="1490472"/>
            <a:ext cx="54864" cy="996695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10328" y="1444752"/>
            <a:ext cx="3538727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ISOLATION FOREST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0328" y="1801368"/>
            <a:ext cx="3538727" cy="7589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DCD5F5"/>
                </a:solidFill>
                <a:latin typeface="Aptos"/>
              </a:rPr>
              <a:t>Scores unusual transactions using amount, category and timing.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DCD5F5"/>
                </a:solidFill>
                <a:latin typeface="Aptos"/>
              </a:rPr>
              <a:t>Rules attach reasons such as new merchant or amount outlier.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880360"/>
            <a:ext cx="3886200" cy="1325880"/>
          </a:xfrm>
          <a:prstGeom prst="roundRect">
            <a:avLst>
              <a:gd name="adj" fmla="val 12000"/>
            </a:avLst>
          </a:prstGeom>
          <a:solidFill>
            <a:srgbClr val="4C2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9224" y="3044952"/>
            <a:ext cx="54864" cy="996695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2999232"/>
            <a:ext cx="3447288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FORECASTING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3355848"/>
            <a:ext cx="3447288" cy="7589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DCD5F5"/>
                </a:solidFill>
                <a:latin typeface="Aptos"/>
              </a:rPr>
              <a:t>Compare naive and seasonal-naive baselines with ridge regression and random forest.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DCD5F5"/>
                </a:solidFill>
                <a:latin typeface="Aptos"/>
              </a:rPr>
              <a:t>Use rolling, time-based validation.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7720" y="2880360"/>
            <a:ext cx="3977639" cy="1325880"/>
          </a:xfrm>
          <a:prstGeom prst="roundRect">
            <a:avLst>
              <a:gd name="adj" fmla="val 12000"/>
            </a:avLst>
          </a:prstGeom>
          <a:solidFill>
            <a:srgbClr val="4C2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64024" y="3044952"/>
            <a:ext cx="54864" cy="996695"/>
          </a:xfrm>
          <a:prstGeom prst="rect">
            <a:avLst/>
          </a:prstGeom>
          <a:solidFill>
            <a:srgbClr val="57E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10328" y="2999232"/>
            <a:ext cx="3538727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CSP + A* + Q-LEARNING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10328" y="3355848"/>
            <a:ext cx="3538727" cy="7589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DCD5F5"/>
                </a:solidFill>
                <a:latin typeface="Aptos"/>
              </a:rPr>
              <a:t>CSP enforces budget constraints; A* seeks low-disruption changes; Q-learning adapts one recommendation per month.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526280"/>
            <a:ext cx="77724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FF8291"/>
                </a:solidFill>
                <a:latin typeface="Aptos"/>
              </a:rPr>
              <a:t>No model performance results are claimed: all metrics are to be measured during evaluation.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1A7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47472"/>
            <a:ext cx="109728" cy="530352"/>
          </a:xfrm>
          <a:prstGeom prst="rect">
            <a:avLst/>
          </a:prstGeom>
          <a:solidFill>
            <a:srgbClr val="57E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7955279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FFFFFF"/>
                </a:solidFill>
                <a:latin typeface="Aptos"/>
              </a:rPr>
              <a:t>Illustrative Budget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80467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DCD5F5"/>
                </a:solidFill>
                <a:latin typeface="Aptos"/>
              </a:rPr>
              <a:t>Hypothetical values from the report — not experimental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4736592"/>
            <a:ext cx="32004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DCD5F5"/>
                </a:solidFill>
                <a:latin typeface="Aptos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2423160" cy="2423160"/>
          </a:xfrm>
          <a:prstGeom prst="roundRect">
            <a:avLst>
              <a:gd name="adj" fmla="val 12000"/>
            </a:avLst>
          </a:prstGeom>
          <a:solidFill>
            <a:srgbClr val="4C2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9224" y="1490472"/>
            <a:ext cx="54864" cy="2093976"/>
          </a:xfrm>
          <a:prstGeom prst="rect">
            <a:avLst/>
          </a:prstGeom>
          <a:solidFill>
            <a:srgbClr val="57E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444752"/>
            <a:ext cx="1984248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801368"/>
            <a:ext cx="1984248" cy="185623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DCD5F5"/>
                </a:solidFill>
                <a:latin typeface="Aptos"/>
              </a:rPr>
              <a:t>Monthly income: 60,000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DCD5F5"/>
                </a:solidFill>
                <a:latin typeface="Aptos"/>
              </a:rPr>
              <a:t>Savings target: 9,000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DCD5F5"/>
                </a:solidFill>
                <a:latin typeface="Aptos"/>
              </a:rPr>
              <a:t>Entertainment forecast: 6,500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DCD5F5"/>
                </a:solidFill>
                <a:latin typeface="Aptos"/>
              </a:rPr>
              <a:t>Entertainment limit: 5,000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1325880"/>
            <a:ext cx="2423160" cy="2423160"/>
          </a:xfrm>
          <a:prstGeom prst="roundRect">
            <a:avLst>
              <a:gd name="adj" fmla="val 12000"/>
            </a:avLst>
          </a:prstGeom>
          <a:solidFill>
            <a:srgbClr val="4C2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00984" y="1490472"/>
            <a:ext cx="54864" cy="2093976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1444752"/>
            <a:ext cx="1984248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1801368"/>
            <a:ext cx="1984248" cy="185623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DCD5F5"/>
                </a:solidFill>
                <a:latin typeface="Aptos"/>
              </a:rPr>
              <a:t>CSP checks essential minimums and savings.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DCD5F5"/>
                </a:solidFill>
                <a:latin typeface="Aptos"/>
              </a:rPr>
              <a:t>A* searches for a feasible, low-disruption allocation.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1325880"/>
            <a:ext cx="2788920" cy="2423160"/>
          </a:xfrm>
          <a:prstGeom prst="roundRect">
            <a:avLst>
              <a:gd name="adj" fmla="val 12000"/>
            </a:avLst>
          </a:prstGeom>
          <a:solidFill>
            <a:srgbClr val="4C2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52744" y="1490472"/>
            <a:ext cx="54864" cy="2093976"/>
          </a:xfrm>
          <a:prstGeom prst="rect">
            <a:avLst/>
          </a:prstGeom>
          <a:solidFill>
            <a:srgbClr val="57E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8" y="1444752"/>
            <a:ext cx="2350008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ILLUSTRATIVE CHANGE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9048" y="1801368"/>
            <a:ext cx="2350008" cy="185623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DCD5F5"/>
                </a:solidFill>
                <a:latin typeface="Aptos"/>
              </a:rPr>
              <a:t>Reduce entertainment by 3,000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DCD5F5"/>
                </a:solidFill>
                <a:latin typeface="Aptos"/>
              </a:rPr>
              <a:t>Add the same amount to savings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DCD5F5"/>
                </a:solidFill>
                <a:latin typeface="Aptos"/>
              </a:rPr>
              <a:t>Entertainment becomes 3,500 — within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160520"/>
            <a:ext cx="7955279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FFCC66"/>
                </a:solidFill>
                <a:latin typeface="Aptos"/>
              </a:rPr>
              <a:t>The report’s worked example demonstrates the planned logic only; the application has not yet been evaluated.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1A7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47472"/>
            <a:ext cx="109728" cy="530352"/>
          </a:xfrm>
          <a:prstGeom prst="rect">
            <a:avLst/>
          </a:prstGeom>
          <a:solidFill>
            <a:srgbClr val="57E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7955279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FFFFFF"/>
                </a:solidFill>
                <a:latin typeface="Aptos"/>
              </a:rPr>
              <a:t>Implementation &amp; Evaluation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80467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DCD5F5"/>
                </a:solidFill>
                <a:latin typeface="Aptos"/>
              </a:rPr>
              <a:t>Planned technology stack and how the system will be tested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4736592"/>
            <a:ext cx="32004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DCD5F5"/>
                </a:solidFill>
                <a:latin typeface="Aptos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3886200" cy="2606040"/>
          </a:xfrm>
          <a:prstGeom prst="roundRect">
            <a:avLst>
              <a:gd name="adj" fmla="val 12000"/>
            </a:avLst>
          </a:prstGeom>
          <a:solidFill>
            <a:srgbClr val="4C2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9224" y="1444751"/>
            <a:ext cx="54864" cy="2276856"/>
          </a:xfrm>
          <a:prstGeom prst="rect">
            <a:avLst/>
          </a:prstGeom>
          <a:solidFill>
            <a:srgbClr val="57E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399031"/>
            <a:ext cx="3447288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PLANNED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755648"/>
            <a:ext cx="3447288" cy="20391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DCD5F5"/>
                </a:solidFill>
                <a:latin typeface="Aptos"/>
              </a:rPr>
              <a:t>• Python 3.11+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DCD5F5"/>
                </a:solidFill>
                <a:latin typeface="Aptos"/>
              </a:rPr>
              <a:t>• pandas and NumPy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DCD5F5"/>
                </a:solidFill>
                <a:latin typeface="Aptos"/>
              </a:rPr>
              <a:t>• scikit-learn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DCD5F5"/>
                </a:solidFill>
                <a:latin typeface="Aptos"/>
              </a:rPr>
              <a:t>• SQLite database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DCD5F5"/>
                </a:solidFill>
                <a:latin typeface="Aptos"/>
              </a:rPr>
              <a:t>• FastAPI backend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DCD5F5"/>
                </a:solidFill>
                <a:latin typeface="Aptos"/>
              </a:rPr>
              <a:t>• Responsive browser interface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DCD5F5"/>
                </a:solidFill>
                <a:latin typeface="Aptos"/>
              </a:rPr>
              <a:t>• pytest + fixed random seeds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280160"/>
            <a:ext cx="3977639" cy="1170432"/>
          </a:xfrm>
          <a:prstGeom prst="roundRect">
            <a:avLst>
              <a:gd name="adj" fmla="val 12000"/>
            </a:avLst>
          </a:prstGeom>
          <a:solidFill>
            <a:srgbClr val="4C2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64024" y="1444751"/>
            <a:ext cx="54864" cy="841248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10328" y="1399031"/>
            <a:ext cx="3538727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FORECAST 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0328" y="1755648"/>
            <a:ext cx="3538727" cy="60350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DCD5F5"/>
                </a:solidFill>
                <a:latin typeface="Aptos"/>
              </a:rPr>
              <a:t>Compare MAE and RMSE against naive baselines using rolling-origin tests.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2587752"/>
            <a:ext cx="3977639" cy="1170432"/>
          </a:xfrm>
          <a:prstGeom prst="roundRect">
            <a:avLst>
              <a:gd name="adj" fmla="val 12000"/>
            </a:avLst>
          </a:prstGeom>
          <a:solidFill>
            <a:srgbClr val="4C2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64024" y="2752344"/>
            <a:ext cx="54864" cy="841248"/>
          </a:xfrm>
          <a:prstGeom prst="rect">
            <a:avLst/>
          </a:prstGeom>
          <a:solidFill>
            <a:srgbClr val="57E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10328" y="2706624"/>
            <a:ext cx="3538727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ALERT 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0328" y="3063240"/>
            <a:ext cx="3538727" cy="60350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DCD5F5"/>
                </a:solidFill>
                <a:latin typeface="Aptos"/>
              </a:rPr>
              <a:t>Measure alert precision and review false positives using test scenarios.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7720" y="3895344"/>
            <a:ext cx="3977639" cy="777240"/>
          </a:xfrm>
          <a:prstGeom prst="roundRect">
            <a:avLst>
              <a:gd name="adj" fmla="val 12000"/>
            </a:avLst>
          </a:prstGeom>
          <a:solidFill>
            <a:srgbClr val="4C2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64024" y="4059935"/>
            <a:ext cx="54864" cy="448056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10328" y="4014215"/>
            <a:ext cx="3538727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BUDGET + USABILITY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10328" y="4370831"/>
            <a:ext cx="3538727" cy="21031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DCD5F5"/>
                </a:solidFill>
                <a:latin typeface="Aptos"/>
              </a:rPr>
              <a:t>Check constraint feasibility, explanation coverage and phone/desktop usability.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224528"/>
            <a:ext cx="3749039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FF8291"/>
                </a:solidFill>
                <a:latin typeface="Aptos"/>
              </a:rPr>
              <a:t>Current status: design stage; no code run and no results reported.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1A7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47472"/>
            <a:ext cx="109728" cy="530352"/>
          </a:xfrm>
          <a:prstGeom prst="rect">
            <a:avLst/>
          </a:prstGeom>
          <a:solidFill>
            <a:srgbClr val="57E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7955279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FFFFFF"/>
                </a:solidFill>
                <a:latin typeface="Aptos"/>
              </a:rPr>
              <a:t>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80467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DCD5F5"/>
                </a:solidFill>
                <a:latin typeface="Aptos"/>
              </a:rPr>
              <a:t>FinSight AI integrates analysis, prediction and constrained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4736592"/>
            <a:ext cx="32004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DCD5F5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3886200" cy="2423160"/>
          </a:xfrm>
          <a:prstGeom prst="roundRect">
            <a:avLst>
              <a:gd name="adj" fmla="val 12000"/>
            </a:avLst>
          </a:prstGeom>
          <a:solidFill>
            <a:srgbClr val="4C2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9224" y="1490472"/>
            <a:ext cx="54864" cy="2093976"/>
          </a:xfrm>
          <a:prstGeom prst="rect">
            <a:avLst/>
          </a:prstGeom>
          <a:solidFill>
            <a:srgbClr val="57E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444752"/>
            <a:ext cx="3447288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PROJECT CONTRIBUTION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801368"/>
            <a:ext cx="3447288" cy="185623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DCD5F5"/>
                </a:solidFill>
                <a:latin typeface="Aptos"/>
              </a:rPr>
              <a:t>• Combines categorisation, clustering and anomaly detection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DCD5F5"/>
                </a:solidFill>
                <a:latin typeface="Aptos"/>
              </a:rPr>
              <a:t>• Forecasts category-level spending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DCD5F5"/>
                </a:solidFill>
                <a:latin typeface="Aptos"/>
              </a:rPr>
              <a:t>• Uses CSP and A* for feasible budgets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DCD5F5"/>
                </a:solidFill>
                <a:latin typeface="Aptos"/>
              </a:rPr>
              <a:t>• Explains alerts and recommendations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DCD5F5"/>
                </a:solidFill>
                <a:latin typeface="Aptos"/>
              </a:rPr>
              <a:t>• Q-learning adapts to user responses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325880"/>
            <a:ext cx="3977639" cy="2423160"/>
          </a:xfrm>
          <a:prstGeom prst="roundRect">
            <a:avLst>
              <a:gd name="adj" fmla="val 12000"/>
            </a:avLst>
          </a:prstGeom>
          <a:solidFill>
            <a:srgbClr val="4C2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64024" y="1490472"/>
            <a:ext cx="54864" cy="2093976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10328" y="1444752"/>
            <a:ext cx="3538727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FUTURE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0328" y="1801368"/>
            <a:ext cx="3538727" cy="185623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DCD5F5"/>
                </a:solidFill>
                <a:latin typeface="Aptos"/>
              </a:rPr>
              <a:t>• Implement and test all modules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DCD5F5"/>
                </a:solidFill>
                <a:latin typeface="Aptos"/>
              </a:rPr>
              <a:t>• Evaluate with realistic transaction datasets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DCD5F5"/>
                </a:solidFill>
                <a:latin typeface="Aptos"/>
              </a:rPr>
              <a:t>• Improve forecasts with longer histories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DCD5F5"/>
                </a:solidFill>
                <a:latin typeface="Aptos"/>
              </a:rPr>
              <a:t>• Refine anomaly thresholds and explanations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DCD5F5"/>
                </a:solidFill>
                <a:latin typeface="Aptos"/>
              </a:rPr>
              <a:t>• Expand user studies and responsive UI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160520"/>
            <a:ext cx="781812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2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590288"/>
            <a:ext cx="78181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0">
                <a:solidFill>
                  <a:srgbClr val="DCD5F5"/>
                </a:solidFill>
                <a:latin typeface="Aptos"/>
              </a:rPr>
              <a:t>JANANI G  |  HIMESH NIRANJHAN A  •  Rajalakshmi Engineering College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